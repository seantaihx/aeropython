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73152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73152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Vortex Modeling with Application to
Atmospheric Air Flow Pattern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6E8F7"/>
                </a:solidFill>
              </a:rPr>
              <a:t>QCC Tech Fee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6E8F7"/>
                </a:solidFill>
              </a:rPr>
              <a:t>Faculty Mentors: Armendariz &amp; Cheung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DD"/>
                </a:solidFill>
              </a:rPr>
              <a:t>Keywords: air flow  ·  vortex model  ·  weather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a Vortex?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pic>
        <p:nvPicPr>
          <p:cNvPr id="7" name="Picture 6" descr="vortex_g5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005840"/>
            <a:ext cx="621792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 vortex is a region of fluid (air or water) rotating around a central 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The rotating core is called the vortex center or 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Fluid spins faster near the center, slower at the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Vortices are everywhere in nature: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Hurricanes &amp; typhoons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112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Tornadoes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Ocean gyres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3525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Aircraft wake turbulence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Bathtub drain swirls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193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Understanding vortices is key to weather prediction and aviation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Vortices in Our Atmosphere — Ventusky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833872" y="1005840"/>
            <a:ext cx="6217920" cy="5486400"/>
          </a:xfrm>
          <a:prstGeom prst="rect">
            <a:avLst/>
          </a:prstGeom>
          <a:solidFill>
            <a:srgbClr val="DDDDDD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[ventusky.png]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Ventusky is a real-time wind &amp; weather visualization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It shows actual atmospheric vortex patterns from global forecast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You can see multiple interacting vortices at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Our simulations reproduce this kind of multi-vortex structure from first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Color = wind speed  |  Streamlines = flow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Red/warm =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Blue/cool = slow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4074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Same jet colormap used in our Python simulations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Study Vortices?  |  Project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Weather forecasting accuracy depends on understanding vortex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904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Aircraft wake vortices are a major aviation safety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93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Ocean vortices (gyres) control heat transport and climate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models are used in computational fluid dynamics (CFD) for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072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This 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850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Started from open-source Python vortex codes on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Extended with new input conditions: oval shapes, viscosity, multi-vortex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53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Applied Lamb-Oseen viscous decay — the standard model for real vortices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371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Demonstrated a proof-of-concept for atmospheric air flow data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212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Developed as a lab exercise tool for community college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Physics — Potential Flow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Potential flow: idealized, inviscid (frictionless), irrotational fluid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904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Fluid velocity is derived from a scalar potential or stream function 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93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Key property: flows can be superposed (added together linearly)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One vortex + another vortex = combined flow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Vortex + sink = spiral inward flow (like a drain)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363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75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Two fundamental building blocks used in this project: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142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Point Vortex — pure rotation around a fixed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982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Sink — fluid drawn inward from all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823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212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Real vortices also have viscosity — handled by the Lamb-Oseen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Formulas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777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73152" cy="7772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Stream Function (Point Vortex)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ψ = Γ / (4π) · ln(r²)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669280" cy="8686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86868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43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Velocity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 = +Γ/(2π) · (y − y₀) / r²
v = −Γ/(2π) · (x − x₀) /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5394960" cy="8686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03120"/>
            <a:ext cx="73152" cy="86868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48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Elliptical (Oval)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23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r² = (Δx / aₓ)² + (Δy / aᵧ)²
aₓ = aspect_x,  aᵧ = aspect_y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5669280" cy="8686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73152" cy="86868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Lamb-Oseen Core Radius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14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r_c(t) = √(4νt + r₀²)
ν = kinematic viscosity,  r₀ = initial core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11521440" cy="9601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73152" cy="9601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Lamb-Oseen Velocity (with viscous cutoff)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7472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 = +Γ/(2π) · (Δy/aᵧ²) / r² · [1 − exp(−r²/r_c²)]
v = −Γ/(2π) · (Δx/aₓ²) / r² · [1 − exp(−r²/r_c²)]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66"/>
                </a:solidFill>
              </a:rPr>
              <a:t>Γ = circulation (strength)   |   r = distance from center   |   ν = viscosity   |   t =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The [1 − exp(…)] term removes the singularity at r = 0, making the vortex core smooth and physically realistic.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— Basic Point Vortex  (vortex.py)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pic>
        <p:nvPicPr>
          <p:cNvPr id="7" name="Picture 6" descr="vortex_g5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005840"/>
            <a:ext cx="621792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Starting point: a single ideal point vortex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Circular streamlines — fluid orbits the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Color = normalized flow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Red/warm near center =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35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Blue/cool at edges =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4564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No viscosity — flow speed → ∞ at center (singularity)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GitHub source code adapted and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4074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8828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Γ = 5.0  |  Center: (0.0, −0.3)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2 — Simulating Vortex Movement  (calculate_vortex.py)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pic>
        <p:nvPicPr>
          <p:cNvPr id="7" name="Picture 6" descr="calc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005840"/>
            <a:ext cx="621792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Extended the base code to track the trajectory of the vortex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moves through the domain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Dots show sampled positions along the orbit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Red dot = vortex center  |  Blue dot = reference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Demonstrates that even a single vortex in a bounded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041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produces non-trivial motion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5171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9926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Foundation for the N-vortex mutual interaction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3 — Superposition: Vortex + Sink  (vortex.py)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pic>
        <p:nvPicPr>
          <p:cNvPr id="7" name="Picture 6" descr="vortex_g5.0_s20.0_(0.25,-0.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005840"/>
            <a:ext cx="621792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Added a sink to the vortex — fluid spirals inward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Superposition principle: velocity fields add linearly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Result: spiral streamlines (like a draining bathtub)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Physically models: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Low-pressure systems pulling air inward while rotating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Hurricane eye-wall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4074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Drain vortices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828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Γ = 5.0  |  Sink strength = 20.0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779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Sink at (0.25, −0.5)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Lamb-Oseen Viscous Decay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Real vortices are viscous — they diffuse and weaken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The Lamb-Oseen model is the standard physics model for this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Core radius grows with time:   r_c(t) = √(4νt + r₀²)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At t = 0: core = r₀ (initial size)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As t increases: core spreads due to viscous diffusion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107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Larger ν = faster spreading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3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78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The [1 − exp(−r²/r_c²)] factor: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902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= 0 at the center → no singularity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469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→ 1 far from center → recovers ideal vortex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In this project: ν = 0.005  (scaled for visible animation)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Simulation runs from t = 0.5 to t = 12.5  (120 frames, Δt = 0.1)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4 — Multi-Vortex Lamb-Oseen Simulation  (lamb_oseen.py)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pic>
        <p:nvPicPr>
          <p:cNvPr id="7" name="Picture 6" descr="lamb_os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005840"/>
            <a:ext cx="621792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4 vortices with different strengths and positions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Red dots = counter-clockwise (Γ &gt;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Blue dots = clockwise (Γ &lt;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Dashed ellipses = viscous core boundary (grows over 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Particles (gray dots) advected by the combined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041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Oval shape: each vortex has aspect_x / aspect_y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5171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aspect_x &gt; 1 → wider horizontally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aspect_y &gt; 1 → taller vertically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3583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Mimics real elongated atmospheric vortices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779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254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Animation shows core growth as viscosity diffuses the vortex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Oval Vortex Cores — Aspect Ratio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Real atmospheric vortices are rarely perfectly circular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Elongated by wind shear, terrain, pressure gradients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Implemented via elliptical distance metric: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r² = (Δx / aspect_x)² + (Δy / aspect_y)²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826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parameters used in the simulation: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0972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86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Vortex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931920"/>
            <a:ext cx="20116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9867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Strength (Γ)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931920"/>
            <a:ext cx="14630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9867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aspect_x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931920"/>
            <a:ext cx="14630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9867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aspect_y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931920"/>
            <a:ext cx="20116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867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Shape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15968"/>
            <a:ext cx="10972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708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315968"/>
            <a:ext cx="20116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3708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−5.0 (CW)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4315968"/>
            <a:ext cx="14630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370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4315968"/>
            <a:ext cx="14630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4370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315968"/>
            <a:ext cx="20116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708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Wide oval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00016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7548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700016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47548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−4.0 (CW)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700016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4754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700016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754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700016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7548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Circular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84064"/>
            <a:ext cx="10972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5084064"/>
            <a:ext cx="20116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51389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+5.0 (CCW)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5084064"/>
            <a:ext cx="14630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5138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5084064"/>
            <a:ext cx="14630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5138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5084064"/>
            <a:ext cx="201168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51389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Tall oval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468112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5229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54480" y="5468112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00200" y="55229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−1.0 (CW)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46811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11880" y="55229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546811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4920" y="55229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468112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55229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Slight wide oval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Coefficient of Variation as Diversity Measure  (CV = a/b)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To characterize how elongated each vortex core is, we define: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120640" cy="9601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73152" cy="9601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Semi-axes of the viscous core ellipse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 = r_c(t) · aspect_x        (x-radius)
b = r_c(t) · aspect_y        (y-radius)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394960" cy="9601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73152" cy="9601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E"/>
                </a:solidFill>
              </a:rPr>
              <a:t>Coefficient of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CV = a / b = aspect_x / aspect_y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46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66"/>
                </a:solidFill>
              </a:rPr>
              <a:t>Note: since both a and b scale with the same r_c(t), CV is constant over time for each vortex.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CV = 1.0  →  perfectly circular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8795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CV &gt; 1.0  →  core is wider than tall  (stretched horizontally)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26863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CV &lt; 1.0  →  core is taller than wide  (stretched vertically)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65775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Used as a diversity measure to compare shape configurations across vortices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04687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Supports weather forecast research by quantifying vortex shape asymmetry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CV Results — Vortex Shape Diversity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Computed at t = 0.5  (initial frame)  via print_cv() in lamb_oseen.py: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100584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700784"/>
            <a:ext cx="9509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Vortex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645920"/>
            <a:ext cx="118872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1700784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aspect_x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645920"/>
            <a:ext cx="118872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700784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aspect_y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645920"/>
            <a:ext cx="155448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700784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r_c (t=0.5)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645920"/>
            <a:ext cx="201168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1700784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 = r_c·aspect_x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645920"/>
            <a:ext cx="201168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1700784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 = r_c·aspect_y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155448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700784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CV = a/b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48256"/>
            <a:ext cx="100584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2112264"/>
            <a:ext cx="9509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048256"/>
            <a:ext cx="118872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592" y="2112264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048256"/>
            <a:ext cx="118872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6312" y="2112264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048256"/>
            <a:ext cx="15544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2112264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048256"/>
            <a:ext cx="20116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2112264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0.1505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048256"/>
            <a:ext cx="20116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51192" y="2112264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0.0702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048256"/>
            <a:ext cx="1554480" cy="402336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2112264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A1A"/>
                </a:solidFill>
              </a:rPr>
              <a:t>2.1429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450592"/>
            <a:ext cx="1005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2514600"/>
            <a:ext cx="9509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245059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592" y="2514600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245059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96312" y="2514600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2450592"/>
            <a:ext cx="15544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5032" y="2514600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2450592"/>
            <a:ext cx="2011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9512" y="2514600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2450592"/>
            <a:ext cx="2011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51192" y="2514600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2450592"/>
            <a:ext cx="1554480" cy="402336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2872" y="2514600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A1A"/>
                </a:solidFill>
              </a:rPr>
              <a:t>1.0000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852928"/>
            <a:ext cx="100584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" y="2916936"/>
            <a:ext cx="9509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80160" y="2852928"/>
            <a:ext cx="118872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07592" y="2916936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2852928"/>
            <a:ext cx="118872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96312" y="2916936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852928"/>
            <a:ext cx="15544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5032" y="2916936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0.1049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2852928"/>
            <a:ext cx="20116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9512" y="2916936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0.0629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2852928"/>
            <a:ext cx="20116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51192" y="2916936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0.1469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2852928"/>
            <a:ext cx="1554480" cy="402336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62872" y="2916936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A1A"/>
                </a:solidFill>
              </a:rPr>
              <a:t>0.4286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255264"/>
            <a:ext cx="1005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" y="3319272"/>
            <a:ext cx="9509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80160" y="325526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07592" y="3319272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0" y="325526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96312" y="3319272"/>
            <a:ext cx="1133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3255264"/>
            <a:ext cx="15544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85032" y="3319272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12080" y="3255264"/>
            <a:ext cx="2011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9512" y="3319272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0.1200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23760" y="3255264"/>
            <a:ext cx="2011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51192" y="3319272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0.0800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3255264"/>
            <a:ext cx="1554480" cy="402336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62872" y="3319272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4A1A"/>
                </a:solidFill>
              </a:rPr>
              <a:t>1.5000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1 (CV=2.14): most elongated horizontally — mimics large-scale weather fronts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2 (CV=1.00): circular — baseline reference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3 (CV=0.43): most elongated vertically — like a narrow storm column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Vortex 4 (CV=1.50): moderately wide — typical mid-latitude cyclone shape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Application to Atmospheric Air Flow Data — Proof of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1305" y="1225296"/>
            <a:ext cx="5720486" cy="5047488"/>
          </a:xfrm>
          <a:prstGeom prst="rect">
            <a:avLst/>
          </a:prstGeom>
          <a:solidFill>
            <a:srgbClr val="DDDDDD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[ventusky.png]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Ventusky shows real atmospheric vortex patterns from global weather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Our model reproduces key 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Multiple interacting vortex centers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Varying rotation directions (CW / CCW)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9809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Non-circular, asymmetric 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4015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Speed gradient: fast core, slow periphery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822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CV as a metric could be used 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Compare simulated vs observed vortex shapes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193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Track how vortex geometry changes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6144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Classify storm types by shape diversity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6510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Next step: overlay model output on real forecast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Cyberlearning Lab Exercise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Goal: develop an interactive vortex lab for community college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Students can: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Modify vortex parameters (strength, position, aspect ratio, viscosity)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426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Run simulations directly in a web browser (no install needed)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992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Compare model output to Ventusky real-world atmospheric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558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Calculate and interpret CV values as a shape diversity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124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239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Tools: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Python + Jupyter Notebook (JupyterHub / GitHub Codespaces)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matplotlib animations rendered in-browser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486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  – GitHub repository for version control and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052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16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Pedagogical value: connects fluid physics, coding, and real-world weather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282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Accessible to students with no prior programming experience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8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Conclusions &amp; 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E8F7"/>
                </a:solidFill>
              </a:rPr>
              <a:t>QCC Tech Fee Program  |  Mentors: Armendariz &amp; Cheung  |  Keywords: air flow · vortex model · weather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Successfully extended open-source Python vortex codes for multiple input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53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Implemented oval/asymmetric vortex cores via elliptical distance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Applied Lamb-Oseen viscous decay — physically realistic vortex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00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CV = a/b provides a simple, interpretable shape diversity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723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Demonstrated atmospheric air flow pattern analysis as a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• Framework ready for interactive cyberlearning lab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</a:rPr>
              <a:t>Acknowledgements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919472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D2B55"/>
                </a:solidFill>
              </a:rPr>
              <a:t>This project was supported by the QCC Tech Fee Program.
Faculty Mentors: Armendariz and Cheung
Community college students participated in weather forecast research using cyberlearning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